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08" r:id="rId2"/>
    <p:sldId id="625" r:id="rId3"/>
    <p:sldId id="728" r:id="rId4"/>
    <p:sldId id="738" r:id="rId5"/>
    <p:sldId id="736" r:id="rId6"/>
    <p:sldId id="730" r:id="rId7"/>
    <p:sldId id="739" r:id="rId8"/>
    <p:sldId id="733" r:id="rId9"/>
    <p:sldId id="740" r:id="rId10"/>
    <p:sldId id="734" r:id="rId11"/>
    <p:sldId id="737" r:id="rId12"/>
    <p:sldId id="735" r:id="rId13"/>
    <p:sldId id="731" r:id="rId14"/>
    <p:sldId id="7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B8C"/>
    <a:srgbClr val="EDEAEA"/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0"/>
    <p:restoredTop sz="94636"/>
  </p:normalViewPr>
  <p:slideViewPr>
    <p:cSldViewPr snapToGrid="0" snapToObjects="1">
      <p:cViewPr varScale="1">
        <p:scale>
          <a:sx n="83" d="100"/>
          <a:sy n="83" d="100"/>
        </p:scale>
        <p:origin x="7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5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B02BC-D360-3D43-9A92-637FD3069957}" type="datetime1">
              <a:rPr lang="en-IN" smtClean="0"/>
              <a:t>06-04-2026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16CE5-9819-F54B-97D7-E535D1C3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1538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C563441B-7BE4-2744-ABA0-4FD2AC8404CF}" type="datetime1">
              <a:rPr lang="en-IN" smtClean="0"/>
              <a:t>06-04-2026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0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36565659-16CB-FC4B-86AF-6ED0A960A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861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8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4pPr>
    <a:lvl5pPr marL="1828800" algn="l" defTabSz="914400" rtl="0" eaLnBrk="1" latinLnBrk="0" hangingPunct="1">
      <a:defRPr sz="11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150734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287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EA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402388"/>
            <a:ext cx="6667016" cy="1230538"/>
          </a:xfrm>
          <a:prstGeom prst="rect">
            <a:avLst/>
          </a:prstGeom>
        </p:spPr>
      </p:pic>
      <p:cxnSp>
        <p:nvCxnSpPr>
          <p:cNvPr id="17" name="Straight Connector 16"/>
          <p:cNvCxnSpPr/>
          <p:nvPr userDrawn="1"/>
        </p:nvCxnSpPr>
        <p:spPr>
          <a:xfrm>
            <a:off x="6736460" y="5335929"/>
            <a:ext cx="0" cy="1354238"/>
          </a:xfrm>
          <a:prstGeom prst="line">
            <a:avLst/>
          </a:prstGeom>
          <a:ln>
            <a:solidFill>
              <a:srgbClr val="21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7048981" y="5335588"/>
            <a:ext cx="4862031" cy="1354137"/>
          </a:xfrm>
        </p:spPr>
        <p:txBody>
          <a:bodyPr anchor="ctr">
            <a:normAutofit/>
          </a:bodyPr>
          <a:lstStyle>
            <a:lvl1pPr>
              <a:defRPr sz="1800" baseline="0"/>
            </a:lvl1pPr>
          </a:lstStyle>
          <a:p>
            <a:pPr lvl="0"/>
            <a:r>
              <a:rPr lang="en-US" dirty="0"/>
              <a:t>Dr./Mr./Mrs. Name</a:t>
            </a:r>
          </a:p>
          <a:p>
            <a:pPr lvl="0"/>
            <a:r>
              <a:rPr lang="en-US" dirty="0"/>
              <a:t>Designation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0916" y="6311899"/>
            <a:ext cx="1523010" cy="365125"/>
          </a:xfrm>
        </p:spPr>
        <p:txBody>
          <a:bodyPr l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9399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Box 3"/>
          <p:cNvSpPr txBox="1"/>
          <p:nvPr userDrawn="1"/>
        </p:nvSpPr>
        <p:spPr>
          <a:xfrm>
            <a:off x="3570605" y="6308725"/>
            <a:ext cx="244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HiRTO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34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558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7977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58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9773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500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500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108732"/>
            <a:ext cx="12192000" cy="749268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>
            <a:hlinkClick r:id="rId13"/>
            <a:hlinkHover r:id="" action="ppaction://noaction" highlightClick="1"/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84361"/>
            <a:ext cx="3239999" cy="59801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472405" y="6227180"/>
            <a:ext cx="0" cy="544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4B8C"/>
          </a:solidFill>
          <a:latin typeface="Bookman Old Style" panose="02050604050505020204" charset="0"/>
          <a:ea typeface="Bookman Old Style" panose="02050604050505020204" charset="0"/>
          <a:cs typeface="Bookman Old Style" panose="0205060405050502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Wi-Fi </a:t>
            </a:r>
            <a:r>
              <a:rPr lang="en-IN" sz="4400" dirty="0" err="1"/>
              <a:t>HaLow</a:t>
            </a:r>
            <a:r>
              <a:rPr lang="en-IN" sz="4400" dirty="0"/>
              <a:t> (IEEE 802.11ah)</a:t>
            </a:r>
            <a:endParaRPr lang="en-US" alt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634" y="2185417"/>
            <a:ext cx="9356725" cy="285292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Topic ID: 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T24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400" dirty="0" smtClean="0"/>
          </a:p>
          <a:p>
            <a:r>
              <a:rPr lang="en-IN" sz="2400" dirty="0" err="1" smtClean="0"/>
              <a:t>Rohit</a:t>
            </a:r>
            <a:r>
              <a:rPr lang="en-IN" sz="2400" dirty="0" smtClean="0"/>
              <a:t> </a:t>
            </a:r>
            <a:r>
              <a:rPr lang="en-IN" sz="2400" dirty="0"/>
              <a:t>Kumar </a:t>
            </a:r>
            <a:r>
              <a:rPr lang="en-IN" sz="2400" dirty="0" smtClean="0"/>
              <a:t>			(</a:t>
            </a:r>
            <a:r>
              <a:rPr lang="en-IN" sz="2400" dirty="0"/>
              <a:t>cs23b2053</a:t>
            </a:r>
            <a:r>
              <a:rPr lang="en-IN" sz="2400" dirty="0" smtClean="0"/>
              <a:t>)</a:t>
            </a:r>
          </a:p>
          <a:p>
            <a:r>
              <a:rPr lang="en-IN" sz="2400" dirty="0"/>
              <a:t>Gyan Chandra </a:t>
            </a:r>
            <a:r>
              <a:rPr lang="en-IN" sz="2400" dirty="0" smtClean="0"/>
              <a:t>		(</a:t>
            </a:r>
            <a:r>
              <a:rPr lang="en-IN" sz="2400" dirty="0"/>
              <a:t>cs23i1053</a:t>
            </a:r>
            <a:r>
              <a:rPr lang="en-IN" sz="2400" dirty="0" smtClean="0"/>
              <a:t>)</a:t>
            </a:r>
          </a:p>
          <a:p>
            <a:r>
              <a:rPr lang="en-IN" sz="2400" dirty="0" err="1"/>
              <a:t>Aluri</a:t>
            </a:r>
            <a:r>
              <a:rPr lang="en-IN" sz="2400" dirty="0"/>
              <a:t> </a:t>
            </a:r>
            <a:r>
              <a:rPr lang="en-IN" sz="2400" dirty="0" err="1"/>
              <a:t>Venkat</a:t>
            </a:r>
            <a:r>
              <a:rPr lang="en-IN" sz="2400" dirty="0"/>
              <a:t> </a:t>
            </a:r>
            <a:r>
              <a:rPr lang="en-IN" sz="2400" dirty="0" err="1"/>
              <a:t>Vaibhav</a:t>
            </a:r>
            <a:r>
              <a:rPr lang="en-IN" sz="2400" dirty="0"/>
              <a:t> </a:t>
            </a:r>
            <a:r>
              <a:rPr lang="en-IN" sz="2400" dirty="0" smtClean="0"/>
              <a:t>	(</a:t>
            </a:r>
            <a:r>
              <a:rPr lang="en-IN" sz="2400" dirty="0"/>
              <a:t>cs23i1040)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CS5005 (</a:t>
            </a:r>
            <a:r>
              <a:rPr lang="en-US" dirty="0" err="1" smtClean="0"/>
              <a:t>IIoT</a:t>
            </a:r>
            <a:r>
              <a:rPr lang="en-US" dirty="0" smtClean="0"/>
              <a:t> and Cloud Computing)</a:t>
            </a:r>
          </a:p>
          <a:p>
            <a:pPr marL="0" indent="0">
              <a:buNone/>
            </a:pPr>
            <a:r>
              <a:rPr lang="en-US" dirty="0"/>
              <a:t>Research Paper</a:t>
            </a:r>
            <a:r>
              <a:rPr lang="en-US" dirty="0" smtClean="0"/>
              <a:t>/ </a:t>
            </a:r>
            <a:r>
              <a:rPr lang="en-US" dirty="0" err="1" smtClean="0"/>
              <a:t>IIoT</a:t>
            </a:r>
            <a:r>
              <a:rPr lang="en-US" dirty="0" smtClean="0"/>
              <a:t> </a:t>
            </a:r>
            <a:r>
              <a:rPr lang="en-US" dirty="0"/>
              <a:t>and Cloud Computing Topic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668635" y="6311900"/>
            <a:ext cx="1523365" cy="365125"/>
          </a:xfrm>
        </p:spPr>
        <p:txBody>
          <a:bodyPr/>
          <a:lstStyle/>
          <a:p>
            <a:fld id="{1EDEEB96-EEF2-A041-AEC4-04121E2F9632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090" y="1634490"/>
            <a:ext cx="11228070" cy="4351655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400" dirty="0"/>
              <a:t>Introduction &amp; The Connectivity </a:t>
            </a:r>
            <a:r>
              <a:rPr lang="en-IN" sz="2400" dirty="0" smtClean="0"/>
              <a:t>Gap</a:t>
            </a:r>
          </a:p>
          <a:p>
            <a:pPr algn="just"/>
            <a:r>
              <a:rPr lang="en-IN" sz="2400" dirty="0"/>
              <a:t>Global Sub-1 GHz Channelization</a:t>
            </a:r>
            <a:endParaRPr lang="en-IN" sz="2400" dirty="0" smtClean="0"/>
          </a:p>
          <a:p>
            <a:pPr algn="just"/>
            <a:r>
              <a:rPr lang="en-US" sz="2400" dirty="0"/>
              <a:t>IEEE 802.11ah NGI Protocol Stack </a:t>
            </a:r>
            <a:endParaRPr lang="en-US" sz="2400" dirty="0" smtClean="0"/>
          </a:p>
          <a:p>
            <a:pPr algn="just"/>
            <a:r>
              <a:rPr lang="en-US" sz="2400" dirty="0" smtClean="0"/>
              <a:t>Key </a:t>
            </a:r>
            <a:r>
              <a:rPr lang="en-US" sz="2400" dirty="0"/>
              <a:t>MAC Features (RAW &amp; TIM</a:t>
            </a:r>
            <a:r>
              <a:rPr lang="en-US" sz="2400" dirty="0" smtClean="0"/>
              <a:t>)</a:t>
            </a:r>
          </a:p>
          <a:p>
            <a:pPr algn="just"/>
            <a:r>
              <a:rPr lang="en-IN" sz="2400" dirty="0"/>
              <a:t>Achieving Massive </a:t>
            </a:r>
            <a:r>
              <a:rPr lang="en-IN" sz="2400" dirty="0" smtClean="0"/>
              <a:t>Scalability</a:t>
            </a:r>
            <a:endParaRPr lang="en-US" sz="2400" dirty="0" smtClean="0"/>
          </a:p>
          <a:p>
            <a:pPr algn="just"/>
            <a:r>
              <a:rPr lang="en-IN" sz="2400" dirty="0"/>
              <a:t>Technology </a:t>
            </a:r>
            <a:r>
              <a:rPr lang="en-IN" sz="2400" dirty="0" smtClean="0"/>
              <a:t>Comparison</a:t>
            </a:r>
          </a:p>
          <a:p>
            <a:pPr algn="just"/>
            <a:r>
              <a:rPr lang="en-IN" sz="2400" dirty="0"/>
              <a:t>Implementation (NS-3 Simulation</a:t>
            </a:r>
            <a:r>
              <a:rPr lang="en-IN" sz="2400" dirty="0" smtClean="0"/>
              <a:t>)</a:t>
            </a:r>
          </a:p>
          <a:p>
            <a:pPr algn="just"/>
            <a:r>
              <a:rPr lang="en-IN" sz="2400" dirty="0"/>
              <a:t>Energy Efficiency (TWT)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/>
            <a:r>
              <a:rPr lang="en-IN" sz="2400" dirty="0" err="1"/>
              <a:t>IIoT</a:t>
            </a:r>
            <a:r>
              <a:rPr lang="en-IN" sz="2400" dirty="0"/>
              <a:t> </a:t>
            </a:r>
            <a:r>
              <a:rPr lang="en-IN" sz="2400" dirty="0" smtClean="0"/>
              <a:t>Applications</a:t>
            </a:r>
          </a:p>
          <a:p>
            <a:pPr algn="just"/>
            <a:r>
              <a:rPr lang="en-IN" sz="2400" dirty="0"/>
              <a:t>Conclusion</a:t>
            </a:r>
            <a:endParaRPr lang="en-US" altLang="en-US" sz="2400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9288" y="1307940"/>
            <a:ext cx="11277600" cy="4351655"/>
          </a:xfrm>
        </p:spPr>
        <p:txBody>
          <a:bodyPr>
            <a:normAutofit/>
          </a:bodyPr>
          <a:lstStyle/>
          <a:p>
            <a:r>
              <a:rPr lang="en-US" sz="2400" dirty="0"/>
              <a:t>Operates in sub-1 GHz bands, enabling extended 1 km transmission range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Supports massive device density (up to 8,192 devices per Access Point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Provides adaptive data rates ranging from 150 Kbps up to 78 Mbps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Integrates natively with IP networks (IPv6), eliminating the need for proprietary gateways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649" y="3032172"/>
            <a:ext cx="6808702" cy="3070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Spectrum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9288" y="1472532"/>
            <a:ext cx="6431280" cy="4351655"/>
          </a:xfrm>
        </p:spPr>
        <p:txBody>
          <a:bodyPr>
            <a:normAutofit/>
          </a:bodyPr>
          <a:lstStyle/>
          <a:p>
            <a:r>
              <a:rPr lang="en-US" sz="2400" dirty="0"/>
              <a:t>Operates in unlicensed sub-1 GHz bands, avoiding expensive cellular spectrum costs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US Band (902–928 MHz):</a:t>
            </a:r>
            <a:r>
              <a:rPr lang="en-US" sz="2400" dirty="0"/>
              <a:t> Offers the widest allocation, supporting up to 16 MHz channels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India &amp; Europe:</a:t>
            </a:r>
            <a:r>
              <a:rPr lang="en-US" sz="2400" dirty="0"/>
              <a:t> Support narrower 1 MHz and 2 MHz channels for dense deployments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Sub-1 GHz operation guarantees superior penetration through concrete walls and vegetation.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568" y="1307940"/>
            <a:ext cx="5227042" cy="353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5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Protocol Stack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9289" y="1307940"/>
            <a:ext cx="6061974" cy="454422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Acts </a:t>
            </a:r>
            <a:r>
              <a:rPr lang="en-US" sz="2400" dirty="0"/>
              <a:t>as the robust sub-1 GHz Physical and Link layer for Next-Gen </a:t>
            </a:r>
            <a:r>
              <a:rPr lang="en-US" sz="2400" dirty="0" err="1"/>
              <a:t>IoT</a:t>
            </a:r>
            <a:r>
              <a:rPr lang="en-US" sz="2400" dirty="0"/>
              <a:t> (NGI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Utilizes the 6LoWPAN adaptation layer to efficiently bridge the MAC to IPv6/RPL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Natively supports lightweight internet transport protocols like UDP and DTLS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Seamlessly integrates with cloud-level application messaging (</a:t>
            </a:r>
            <a:r>
              <a:rPr lang="en-US" sz="2400" dirty="0" err="1"/>
              <a:t>CoAP</a:t>
            </a:r>
            <a:r>
              <a:rPr lang="en-US" sz="2400" dirty="0"/>
              <a:t>, MQTT, XMPP</a:t>
            </a:r>
            <a:r>
              <a:rPr lang="en-US" sz="2400" dirty="0" smtClean="0"/>
              <a:t>).</a:t>
            </a:r>
          </a:p>
          <a:p>
            <a:endParaRPr lang="en-US" sz="2400" dirty="0" smtClean="0"/>
          </a:p>
          <a:p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-585" b="25753"/>
          <a:stretch/>
        </p:blipFill>
        <p:spPr>
          <a:xfrm>
            <a:off x="6167937" y="1448180"/>
            <a:ext cx="6024063" cy="29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8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238"/>
            <a:ext cx="10515600" cy="942814"/>
          </a:xfrm>
        </p:spPr>
        <p:txBody>
          <a:bodyPr/>
          <a:lstStyle/>
          <a:p>
            <a:r>
              <a:rPr lang="en-IN" dirty="0"/>
              <a:t>Key Technical Features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8144" y="1049622"/>
            <a:ext cx="10955655" cy="4351655"/>
          </a:xfrm>
        </p:spPr>
        <p:txBody>
          <a:bodyPr/>
          <a:lstStyle/>
          <a:p>
            <a:r>
              <a:rPr lang="en-US" sz="2400" b="1" dirty="0"/>
              <a:t>Restricted Access Window (RAW):</a:t>
            </a:r>
            <a:r>
              <a:rPr lang="en-US" sz="2400" dirty="0"/>
              <a:t> Groups stations into specific time slots to drastically reduce data </a:t>
            </a:r>
            <a:r>
              <a:rPr lang="en-US" sz="2400" dirty="0" smtClean="0"/>
              <a:t>collisions.</a:t>
            </a:r>
          </a:p>
          <a:p>
            <a:r>
              <a:rPr lang="en-US" sz="2400" b="1" dirty="0"/>
              <a:t>TIM Segmentation:</a:t>
            </a:r>
            <a:r>
              <a:rPr lang="en-US" sz="2400" dirty="0"/>
              <a:t> Allows stations to wake up only for specific group beacons, maximizing sleep time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Target Wake Time (TWT):</a:t>
            </a:r>
            <a:r>
              <a:rPr lang="en-US" sz="2400" dirty="0"/>
              <a:t> AP and stations negotiate sleep schedules, enabling multi-year battery </a:t>
            </a:r>
            <a:r>
              <a:rPr lang="en-US" sz="2400" dirty="0" smtClean="0"/>
              <a:t>life</a:t>
            </a:r>
          </a:p>
          <a:p>
            <a:r>
              <a:rPr lang="en-US" sz="2400" b="1" dirty="0"/>
              <a:t>Hierarchical AID:</a:t>
            </a:r>
            <a:r>
              <a:rPr lang="en-US" sz="2400" dirty="0"/>
              <a:t> Efficiently manages and organizes up to 8,191 </a:t>
            </a:r>
            <a:r>
              <a:rPr lang="en-US" sz="2400" dirty="0" err="1"/>
              <a:t>IoT</a:t>
            </a:r>
            <a:r>
              <a:rPr lang="en-US" sz="2400" dirty="0"/>
              <a:t> endpoints..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230" y="3867595"/>
            <a:ext cx="6559362" cy="220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4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238"/>
            <a:ext cx="10515600" cy="942814"/>
          </a:xfrm>
        </p:spPr>
        <p:txBody>
          <a:bodyPr/>
          <a:lstStyle/>
          <a:p>
            <a:r>
              <a:rPr lang="en-IN" dirty="0"/>
              <a:t>Achieving Massive Scalability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8144" y="1195926"/>
            <a:ext cx="6011800" cy="4747674"/>
          </a:xfrm>
        </p:spPr>
        <p:txBody>
          <a:bodyPr/>
          <a:lstStyle/>
          <a:p>
            <a:r>
              <a:rPr lang="en-US" sz="2400" dirty="0"/>
              <a:t>Expands the legacy Association ID (AID) space from 11 bits to 13 bits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Organizes AIDs </a:t>
            </a:r>
            <a:r>
              <a:rPr lang="en-US" sz="2400" dirty="0" smtClean="0"/>
              <a:t>hierarchically</a:t>
            </a:r>
            <a:r>
              <a:rPr lang="en-US" sz="2400" dirty="0"/>
              <a:t>: Pages → Blocks → Sub-blocks → Stations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This structured approach drastically reduces protocol overhead during traffic indication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Enables a single Access Point (AP) to efficiently manage up to 8,192 </a:t>
            </a:r>
            <a:r>
              <a:rPr lang="en-US" sz="2400" dirty="0" err="1"/>
              <a:t>IoT</a:t>
            </a:r>
            <a:r>
              <a:rPr lang="en-US" sz="2400" dirty="0"/>
              <a:t> devices.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85" b="18475"/>
          <a:stretch/>
        </p:blipFill>
        <p:spPr>
          <a:xfrm>
            <a:off x="6409944" y="1503319"/>
            <a:ext cx="5742432" cy="25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2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886" y="221982"/>
            <a:ext cx="10515600" cy="942814"/>
          </a:xfrm>
        </p:spPr>
        <p:txBody>
          <a:bodyPr/>
          <a:lstStyle/>
          <a:p>
            <a:r>
              <a:rPr lang="en-IN" dirty="0"/>
              <a:t>Technology Comparison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1" y="1296510"/>
            <a:ext cx="5434584" cy="4351655"/>
          </a:xfrm>
        </p:spPr>
        <p:txBody>
          <a:bodyPr/>
          <a:lstStyle/>
          <a:p>
            <a:r>
              <a:rPr lang="en-US" sz="2400" dirty="0"/>
              <a:t>Outperforms </a:t>
            </a:r>
            <a:r>
              <a:rPr lang="en-US" sz="2400" dirty="0" err="1"/>
              <a:t>LoRa</a:t>
            </a:r>
            <a:r>
              <a:rPr lang="en-US" sz="2400" dirty="0"/>
              <a:t> and </a:t>
            </a:r>
            <a:r>
              <a:rPr lang="en-US" sz="2400" dirty="0" err="1"/>
              <a:t>SigFox</a:t>
            </a:r>
            <a:r>
              <a:rPr lang="en-US" sz="2400" dirty="0"/>
              <a:t> in data rates while matching their LP-WAN range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Exceeds BLE and </a:t>
            </a:r>
            <a:r>
              <a:rPr lang="en-US" sz="2400" dirty="0" err="1"/>
              <a:t>ZigBee</a:t>
            </a:r>
            <a:r>
              <a:rPr lang="en-US" sz="2400" dirty="0"/>
              <a:t> range by 10× with superior wall and obstacle penetration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High throughput natively supports fast, encrypted Over-The-Air (OTA) firmware updates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Mandates WPA3 enterprise-grade security for industrial applications.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080" y="1408524"/>
            <a:ext cx="6157834" cy="34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67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886" y="221982"/>
            <a:ext cx="10515600" cy="942814"/>
          </a:xfrm>
        </p:spPr>
        <p:txBody>
          <a:bodyPr/>
          <a:lstStyle/>
          <a:p>
            <a:r>
              <a:rPr lang="en-IN" dirty="0"/>
              <a:t>Technology Comparison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6" y="1772216"/>
            <a:ext cx="10556328" cy="289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92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173" y="1533906"/>
            <a:ext cx="10583228" cy="4351655"/>
          </a:xfrm>
        </p:spPr>
        <p:txBody>
          <a:bodyPr/>
          <a:lstStyle/>
          <a:p>
            <a:r>
              <a:rPr lang="en-US" sz="2400" dirty="0"/>
              <a:t>Simulated a dense smart agriculture scenario (500m radius, up to 500 stations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Standard CSMA/CA throughput collapses by &gt;90% at 500 stations due to severe collisions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TAROA-</a:t>
            </a:r>
            <a:r>
              <a:rPr lang="en-US" sz="2400" dirty="0" err="1"/>
              <a:t>optimised</a:t>
            </a:r>
            <a:r>
              <a:rPr lang="en-US" sz="2400" dirty="0"/>
              <a:t> RAW maintains stable throughput (175 Kbps) and low latency (&lt;225 </a:t>
            </a:r>
            <a:r>
              <a:rPr lang="en-US" sz="2400" dirty="0" err="1"/>
              <a:t>ms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RAW improves the Packet Received Ratio (PRR) from 12% to 94% at peak density.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0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Efficiency: Target Wake Time (TWT)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172" y="1533907"/>
            <a:ext cx="6450139" cy="4162806"/>
          </a:xfrm>
        </p:spPr>
        <p:txBody>
          <a:bodyPr/>
          <a:lstStyle/>
          <a:p>
            <a:r>
              <a:rPr lang="en-US" sz="2400" dirty="0"/>
              <a:t>TWT allows the Access Point (AP) and stations to negotiate specific sleep schedules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Devices remain in a deep sleep state between pre-agreed TWT Service Periods (SPs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>Eliminates the need for devices to wake up for every beacon frame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Crucial for remote sensors (e.g., agriculture, metering) to achieve multi-year battery lifespans</a:t>
            </a:r>
            <a:r>
              <a:rPr lang="en-US" sz="2400" dirty="0" smtClean="0"/>
              <a:t>.</a:t>
            </a:r>
          </a:p>
          <a:p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247" y="1458524"/>
            <a:ext cx="5117838" cy="35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IIoT</a:t>
            </a:r>
            <a:r>
              <a:rPr lang="en-US" dirty="0"/>
              <a:t> Applications of Wi-Fi </a:t>
            </a:r>
            <a:r>
              <a:rPr lang="en-US" dirty="0" err="1"/>
              <a:t>HaLow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137" y="1333086"/>
            <a:ext cx="6239256" cy="435165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Smart Agriculture:</a:t>
            </a:r>
            <a:r>
              <a:rPr lang="en-US" sz="2400" dirty="0"/>
              <a:t> 1-2 km coverage; TWT ensures soil sensors run for years on coin-cell batteries..</a:t>
            </a:r>
            <a:endParaRPr lang="en-US" sz="2400" dirty="0" smtClean="0"/>
          </a:p>
          <a:p>
            <a:r>
              <a:rPr lang="en-US" sz="2400" b="1" dirty="0"/>
              <a:t>Industrial Automation:</a:t>
            </a:r>
            <a:r>
              <a:rPr lang="en-US" sz="2400" dirty="0"/>
              <a:t> Sub-1 GHz easily penetrates factory walls; guarantees sub-100 </a:t>
            </a:r>
            <a:r>
              <a:rPr lang="en-US" sz="2400" dirty="0" err="1"/>
              <a:t>ms</a:t>
            </a:r>
            <a:r>
              <a:rPr lang="en-US" sz="2400" dirty="0"/>
              <a:t> </a:t>
            </a:r>
            <a:r>
              <a:rPr lang="en-US" sz="2400" dirty="0" smtClean="0"/>
              <a:t>latency.</a:t>
            </a:r>
          </a:p>
          <a:p>
            <a:r>
              <a:rPr lang="en-US" sz="2400" b="1" dirty="0"/>
              <a:t>Smart Grid / Metering:</a:t>
            </a:r>
            <a:r>
              <a:rPr lang="en-US" sz="2400" dirty="0"/>
              <a:t> Cost-effective, bi-directional communication without licensed spectrum </a:t>
            </a:r>
            <a:r>
              <a:rPr lang="en-US" sz="2400" dirty="0" smtClean="0"/>
              <a:t>fees.</a:t>
            </a:r>
          </a:p>
          <a:p>
            <a:r>
              <a:rPr lang="en-US" sz="2400" b="1" dirty="0"/>
              <a:t>Smart Healthcare:</a:t>
            </a:r>
            <a:r>
              <a:rPr lang="en-US" sz="2400" dirty="0"/>
              <a:t> WPA3 compliance ensures strict HIPAA-level data security for remote tracking.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835" y="1307940"/>
            <a:ext cx="4945215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2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/>
          <a:lstStyle/>
          <a:p>
            <a:r>
              <a:rPr lang="en-US" sz="2400" dirty="0"/>
              <a:t>Wi-Fi </a:t>
            </a:r>
            <a:r>
              <a:rPr lang="en-US" sz="2400" dirty="0" err="1"/>
              <a:t>HaLow</a:t>
            </a:r>
            <a:r>
              <a:rPr lang="en-US" sz="2400" dirty="0"/>
              <a:t> perfectly balances range, data speed, and energy efficiency for </a:t>
            </a:r>
            <a:r>
              <a:rPr lang="en-US" sz="2400" dirty="0" err="1"/>
              <a:t>IIoT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RAW mechanism is fundamentally essential for dense network scalability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Native IP support and robust security significantly lower integration complexity and CAPEX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Poised to become the standard backbone for next-generation smart environments.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234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[1] Wi-Fi Alliance, "Wi-Fi CERTIFIED </a:t>
            </a:r>
            <a:r>
              <a:rPr lang="en-US" sz="2000" dirty="0" err="1"/>
              <a:t>HaLow</a:t>
            </a:r>
            <a:r>
              <a:rPr lang="en-US" sz="2000" dirty="0"/>
              <a:t>: Wi-Fi for </a:t>
            </a:r>
            <a:r>
              <a:rPr lang="en-US" sz="2000" dirty="0" err="1"/>
              <a:t>IoT</a:t>
            </a:r>
            <a:r>
              <a:rPr lang="en-US" sz="2000" dirty="0"/>
              <a:t> applications," White Paper, Nov 2021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/>
              <a:t>[2] L. </a:t>
            </a:r>
            <a:r>
              <a:rPr lang="en-US" sz="2000" dirty="0" err="1"/>
              <a:t>Tian</a:t>
            </a:r>
            <a:r>
              <a:rPr lang="en-US" sz="2000" dirty="0"/>
              <a:t> et al., "Wi-Fi </a:t>
            </a:r>
            <a:r>
              <a:rPr lang="en-US" sz="2000" dirty="0" err="1"/>
              <a:t>HaLow</a:t>
            </a:r>
            <a:r>
              <a:rPr lang="en-US" sz="2000" dirty="0"/>
              <a:t> for the Internet of Things: An up-to-date survey," </a:t>
            </a:r>
            <a:r>
              <a:rPr lang="en-US" sz="2000" i="1" dirty="0"/>
              <a:t>Journal of Network and Computer Applications</a:t>
            </a:r>
            <a:r>
              <a:rPr lang="en-US" sz="2000" dirty="0"/>
              <a:t>, 2021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/>
              <a:t>[3] M. </a:t>
            </a:r>
            <a:r>
              <a:rPr lang="en-US" sz="2000" dirty="0" err="1"/>
              <a:t>Alam</a:t>
            </a:r>
            <a:r>
              <a:rPr lang="en-US" sz="2000" dirty="0"/>
              <a:t> et al., "</a:t>
            </a:r>
            <a:r>
              <a:rPr lang="en-US" sz="2000" dirty="0" err="1"/>
              <a:t>Analysing</a:t>
            </a:r>
            <a:r>
              <a:rPr lang="en-US" sz="2000" dirty="0"/>
              <a:t> the suitability of IEEE 802.11ah for Next Generation </a:t>
            </a:r>
            <a:r>
              <a:rPr lang="en-US" sz="2000" dirty="0" err="1"/>
              <a:t>IoT</a:t>
            </a:r>
            <a:r>
              <a:rPr lang="en-US" sz="2000" dirty="0"/>
              <a:t>," </a:t>
            </a:r>
            <a:r>
              <a:rPr lang="en-US" sz="2000" i="1" dirty="0"/>
              <a:t>Ad Hoc Networks</a:t>
            </a:r>
            <a:r>
              <a:rPr lang="en-US" sz="2000" dirty="0"/>
              <a:t>, 2024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IN" sz="2000" dirty="0"/>
              <a:t>[4] V. </a:t>
            </a:r>
            <a:r>
              <a:rPr lang="en-IN" sz="2000" dirty="0" err="1"/>
              <a:t>Banos-Gonz</a:t>
            </a:r>
            <a:r>
              <a:rPr lang="en-IN" sz="2000" dirty="0"/>
              <a:t> ˜ </a:t>
            </a:r>
            <a:r>
              <a:rPr lang="en-IN" sz="2000" dirty="0" err="1"/>
              <a:t>alez</a:t>
            </a:r>
            <a:r>
              <a:rPr lang="en-IN" sz="2000" dirty="0"/>
              <a:t>, M. S. </a:t>
            </a:r>
            <a:r>
              <a:rPr lang="en-IN" sz="2000" dirty="0" err="1"/>
              <a:t>Afaqui</a:t>
            </a:r>
            <a:r>
              <a:rPr lang="en-IN" sz="2000" dirty="0"/>
              <a:t>, E. Lopez-Aguilera, and E. Garcia-Villegas, “IEEE ´ 802.11ah: A technology to face the </a:t>
            </a:r>
            <a:r>
              <a:rPr lang="en-IN" sz="2000" dirty="0" err="1"/>
              <a:t>IoT</a:t>
            </a:r>
            <a:r>
              <a:rPr lang="en-IN" sz="2000" dirty="0"/>
              <a:t> challenge,” Sensors, vol. 16, no. 11, p. 1960, 2016. </a:t>
            </a:r>
            <a:endParaRPr lang="en-IN" sz="2000" dirty="0" smtClean="0"/>
          </a:p>
          <a:p>
            <a:pPr marL="0" indent="0">
              <a:buNone/>
            </a:pPr>
            <a:r>
              <a:rPr lang="en-IN" sz="2000" dirty="0" smtClean="0"/>
              <a:t>[</a:t>
            </a:r>
            <a:r>
              <a:rPr lang="en-IN" sz="2000" dirty="0"/>
              <a:t>5] E. </a:t>
            </a:r>
            <a:r>
              <a:rPr lang="en-IN" sz="2000" dirty="0" err="1"/>
              <a:t>Khorov</a:t>
            </a:r>
            <a:r>
              <a:rPr lang="en-IN" sz="2000" dirty="0"/>
              <a:t>, A. </a:t>
            </a:r>
            <a:r>
              <a:rPr lang="en-IN" sz="2000" dirty="0" err="1"/>
              <a:t>Lyakhov</a:t>
            </a:r>
            <a:r>
              <a:rPr lang="en-IN" sz="2000" dirty="0"/>
              <a:t>, A. </a:t>
            </a:r>
            <a:r>
              <a:rPr lang="en-IN" sz="2000" dirty="0" err="1"/>
              <a:t>Krotov</a:t>
            </a:r>
            <a:r>
              <a:rPr lang="en-IN" sz="2000" dirty="0"/>
              <a:t>, and A. </a:t>
            </a:r>
            <a:r>
              <a:rPr lang="en-IN" sz="2000" dirty="0" err="1"/>
              <a:t>Guschin</a:t>
            </a:r>
            <a:r>
              <a:rPr lang="en-IN" sz="2000" dirty="0"/>
              <a:t>, “A survey on IEEE 802.11ah: An enabling networking technology for smart cities,” Computer Communications, vol. 58, pp. 53–69, 2015. 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72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872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Source Sans Pro</vt:lpstr>
      <vt:lpstr>Times New Roman</vt:lpstr>
      <vt:lpstr>Office Theme</vt:lpstr>
      <vt:lpstr>Wi-Fi HaLow (IEEE 802.11ah)</vt:lpstr>
      <vt:lpstr>Contents</vt:lpstr>
      <vt:lpstr>Introduction</vt:lpstr>
      <vt:lpstr>Global Spectrum</vt:lpstr>
      <vt:lpstr>Protocol Stack</vt:lpstr>
      <vt:lpstr>Key Technical Features</vt:lpstr>
      <vt:lpstr>Achieving Massive Scalability</vt:lpstr>
      <vt:lpstr>Technology Comparison</vt:lpstr>
      <vt:lpstr>Technology Comparison</vt:lpstr>
      <vt:lpstr>Implementation</vt:lpstr>
      <vt:lpstr>Energy Efficiency: Target Wake Time (TWT)</vt:lpstr>
      <vt:lpstr>IIoT Applications of Wi-Fi HaLow</vt:lpstr>
      <vt:lpstr>Conclusion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account</cp:lastModifiedBy>
  <cp:revision>927</cp:revision>
  <dcterms:created xsi:type="dcterms:W3CDTF">2016-10-19T11:41:00Z</dcterms:created>
  <dcterms:modified xsi:type="dcterms:W3CDTF">2026-04-06T05:00:27Z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C108E57BB6B2489282E5AF568B94319C_13</vt:lpwstr>
  </property>
  <property fmtid="{D5CDD505-2E9C-101B-9397-08002B2CF9AE}" pid="3" name="KSOProductBuildVer">
    <vt:lpwstr>1033-12.2.0.20326</vt:lpwstr>
  </property>
</Properties>
</file>